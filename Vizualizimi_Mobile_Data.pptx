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69" r:id="rId3"/>
    <p:sldId id="257" r:id="rId4"/>
    <p:sldId id="270" r:id="rId5"/>
    <p:sldId id="259" r:id="rId6"/>
    <p:sldId id="262" r:id="rId7"/>
    <p:sldId id="263" r:id="rId8"/>
    <p:sldId id="264" r:id="rId9"/>
    <p:sldId id="267" r:id="rId10"/>
    <p:sldId id="271" r:id="rId11"/>
    <p:sldId id="272" r:id="rId12"/>
    <p:sldId id="273" r:id="rId13"/>
    <p:sldId id="274" r:id="rId14"/>
    <p:sldId id="275" r:id="rId15"/>
    <p:sldId id="276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29BF0-798D-4DC1-8D00-56FD8ECC9B5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077ED-44AC-49CF-985A-6D6C39B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2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9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93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6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1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7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3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3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86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8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53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18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02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67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33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77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1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4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712E451E-151A-4910-BF41-6A040B659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296EFE4-A70C-4388-9A15-3F657B661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187" y="473745"/>
            <a:ext cx="8420318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624950"/>
            <a:ext cx="7639233" cy="697940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FAKULTETI I INXHINIERISË ELEKTRIKE DHE KOMPJUTERIKE</a:t>
            </a:r>
            <a:br>
              <a:rPr lang="en-US" sz="20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INXHINIERI KOMPJUTERIKE DHE SOFTUERIKE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5EBAFC-9388-432A-BCFD-EEA2F410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A logo with text and a star&#10;&#10;AI-generated content may be incorrect.">
            <a:extLst>
              <a:ext uri="{FF2B5EF4-FFF2-40B4-BE49-F238E27FC236}">
                <a16:creationId xmlns:a16="http://schemas.microsoft.com/office/drawing/2014/main" id="{A37BACD1-6294-E3D7-2431-B6CD747A3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512" y="1551102"/>
            <a:ext cx="2152650" cy="2143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D884EA-72F9-8188-4207-0C88CEA5ACE0}"/>
              </a:ext>
            </a:extLst>
          </p:cNvPr>
          <p:cNvSpPr txBox="1"/>
          <p:nvPr/>
        </p:nvSpPr>
        <p:spPr>
          <a:xfrm>
            <a:off x="532853" y="3807229"/>
            <a:ext cx="811118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tx2"/>
                </a:solidFill>
              </a:rPr>
              <a:t>Efektet</a:t>
            </a:r>
            <a:r>
              <a:rPr lang="en-US" dirty="0">
                <a:solidFill>
                  <a:schemeClr val="tx2"/>
                </a:solidFill>
              </a:rPr>
              <a:t> e </a:t>
            </a:r>
            <a:r>
              <a:rPr lang="en-US" dirty="0" err="1">
                <a:solidFill>
                  <a:schemeClr val="tx2"/>
                </a:solidFill>
              </a:rPr>
              <a:t>përdorimit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të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telefonit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në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stresin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dhe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shëndetin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mendor</a:t>
            </a:r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Analizë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dhe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vizualizim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të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dhënave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përmes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Metabase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 err="1">
                <a:solidFill>
                  <a:schemeClr val="tx2"/>
                </a:solidFill>
              </a:rPr>
              <a:t>Prof.Ass.Dr.Mërgim</a:t>
            </a:r>
            <a:r>
              <a:rPr lang="en-US">
                <a:solidFill>
                  <a:schemeClr val="tx2"/>
                </a:solidFill>
              </a:rPr>
              <a:t> Hoti </a:t>
            </a:r>
            <a:r>
              <a:rPr lang="en-US" dirty="0">
                <a:solidFill>
                  <a:schemeClr val="tx2"/>
                </a:solidFill>
              </a:rPr>
              <a:t>					</a:t>
            </a:r>
            <a:r>
              <a:rPr lang="en-US" dirty="0" err="1">
                <a:solidFill>
                  <a:schemeClr val="tx2"/>
                </a:solidFill>
              </a:rPr>
              <a:t>Studentët</a:t>
            </a:r>
            <a:r>
              <a:rPr lang="en-US" dirty="0">
                <a:solidFill>
                  <a:schemeClr val="tx2"/>
                </a:solidFill>
              </a:rPr>
              <a:t>: Rinor </a:t>
            </a:r>
            <a:r>
              <a:rPr lang="en-US" dirty="0" err="1">
                <a:solidFill>
                  <a:schemeClr val="tx2"/>
                </a:solidFill>
              </a:rPr>
              <a:t>Ukshini</a:t>
            </a:r>
            <a:r>
              <a:rPr lang="en-US" dirty="0">
                <a:solidFill>
                  <a:schemeClr val="tx2"/>
                </a:solidFill>
              </a:rPr>
              <a:t> 														     Leotrim Halimi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algn="ctr"/>
            <a:r>
              <a:rPr lang="en-US" sz="1200" dirty="0">
                <a:solidFill>
                  <a:schemeClr val="tx2"/>
                </a:solidFill>
              </a:rPr>
              <a:t>Prishtinë,2025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69" y="1039640"/>
            <a:ext cx="7673119" cy="709865"/>
          </a:xfrm>
        </p:spPr>
        <p:txBody>
          <a:bodyPr/>
          <a:lstStyle/>
          <a:p>
            <a:r>
              <a:rPr lang="en-US" dirty="0" err="1"/>
              <a:t>Llojet</a:t>
            </a:r>
            <a:r>
              <a:rPr lang="en-US" dirty="0"/>
              <a:t> e </a:t>
            </a:r>
            <a:r>
              <a:rPr lang="en-US" dirty="0" err="1"/>
              <a:t>përdorimit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telefonave</a:t>
            </a:r>
            <a:r>
              <a:rPr lang="en-US" dirty="0"/>
              <a:t> </a:t>
            </a:r>
            <a:r>
              <a:rPr lang="en-US" dirty="0" err="1"/>
              <a:t>sipas</a:t>
            </a:r>
            <a:r>
              <a:rPr lang="en-US" dirty="0"/>
              <a:t> </a:t>
            </a:r>
            <a:r>
              <a:rPr lang="en-US" dirty="0" err="1"/>
              <a:t>shteteve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642DDD-18FA-4307-B29A-FBCD3A2A0E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4912" y="2432846"/>
            <a:ext cx="785758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>
                <a:solidFill>
                  <a:schemeClr val="tx2"/>
                </a:solidFill>
              </a:rPr>
              <a:t>Ky </a:t>
            </a:r>
            <a:r>
              <a:rPr lang="en-US" sz="2400" dirty="0" err="1">
                <a:solidFill>
                  <a:schemeClr val="tx2"/>
                </a:solidFill>
              </a:rPr>
              <a:t>grafik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paraqet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llojet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kryesore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përdorimit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telefonit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sipas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shteteve</a:t>
            </a:r>
            <a:r>
              <a:rPr lang="en-US" sz="2400" dirty="0">
                <a:solidFill>
                  <a:schemeClr val="tx2"/>
                </a:solidFill>
              </a:rPr>
              <a:t>, duke </a:t>
            </a:r>
            <a:r>
              <a:rPr lang="en-US" sz="2400" dirty="0" err="1">
                <a:solidFill>
                  <a:schemeClr val="tx2"/>
                </a:solidFill>
              </a:rPr>
              <a:t>përfshirë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përdorimin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për</a:t>
            </a:r>
            <a:r>
              <a:rPr lang="en-US" sz="2400" dirty="0">
                <a:solidFill>
                  <a:schemeClr val="tx2"/>
                </a:solidFill>
              </a:rPr>
              <a:t>: </a:t>
            </a:r>
            <a:r>
              <a:rPr lang="en-US" sz="2400" dirty="0" err="1">
                <a:solidFill>
                  <a:schemeClr val="tx2"/>
                </a:solidFill>
              </a:rPr>
              <a:t>rrjete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sociale</a:t>
            </a:r>
            <a:r>
              <a:rPr lang="en-US" sz="2400" dirty="0">
                <a:solidFill>
                  <a:schemeClr val="tx2"/>
                </a:solidFill>
              </a:rPr>
              <a:t>, gaming, streaming, </a:t>
            </a:r>
            <a:r>
              <a:rPr lang="en-US" sz="2400" dirty="0" err="1">
                <a:solidFill>
                  <a:schemeClr val="tx2"/>
                </a:solidFill>
              </a:rPr>
              <a:t>komunikim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punë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aktivitet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fizik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  <a:r>
              <a:rPr lang="en-US" sz="2400" dirty="0" err="1">
                <a:solidFill>
                  <a:schemeClr val="tx2"/>
                </a:solidFill>
              </a:rPr>
              <a:t>Rezultatet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tregojnë</a:t>
            </a:r>
            <a:r>
              <a:rPr lang="en-US" sz="2400" dirty="0">
                <a:solidFill>
                  <a:schemeClr val="tx2"/>
                </a:solidFill>
              </a:rPr>
              <a:t> se, </a:t>
            </a:r>
            <a:r>
              <a:rPr lang="en-US" sz="2400" dirty="0" err="1">
                <a:solidFill>
                  <a:schemeClr val="tx2"/>
                </a:solidFill>
              </a:rPr>
              <a:t>edhe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pse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përdorimi</a:t>
            </a:r>
            <a:r>
              <a:rPr lang="en-US" sz="2400" dirty="0">
                <a:solidFill>
                  <a:schemeClr val="tx2"/>
                </a:solidFill>
              </a:rPr>
              <a:t> total </a:t>
            </a:r>
            <a:r>
              <a:rPr lang="en-US" sz="2400" dirty="0" err="1">
                <a:solidFill>
                  <a:schemeClr val="tx2"/>
                </a:solidFill>
              </a:rPr>
              <a:t>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telefonit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është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ngjashëm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mes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shteteve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ndarja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sipas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aktiviteteve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ndryshon</a:t>
            </a:r>
            <a:r>
              <a:rPr lang="en-US" sz="2400" dirty="0">
                <a:solidFill>
                  <a:schemeClr val="tx2"/>
                </a:solidFill>
              </a:rPr>
              <a:t>, duke </a:t>
            </a:r>
            <a:r>
              <a:rPr lang="en-US" sz="2400" dirty="0" err="1">
                <a:solidFill>
                  <a:schemeClr val="tx2"/>
                </a:solidFill>
              </a:rPr>
              <a:t>reflektuar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dallime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kulturore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dhe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sjellore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518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F995B1-2CC0-4AF0-BD28-46C8C6513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610" y="1763656"/>
            <a:ext cx="8770414" cy="4682253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C1CBE83-05BB-419E-B1F1-832E2486F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440" y="727978"/>
            <a:ext cx="7673119" cy="709865"/>
          </a:xfrm>
        </p:spPr>
        <p:txBody>
          <a:bodyPr/>
          <a:lstStyle/>
          <a:p>
            <a:r>
              <a:rPr lang="en-US" dirty="0" err="1"/>
              <a:t>Llojet</a:t>
            </a:r>
            <a:r>
              <a:rPr lang="en-US" dirty="0"/>
              <a:t> e </a:t>
            </a:r>
            <a:r>
              <a:rPr lang="en-US" dirty="0" err="1"/>
              <a:t>përdo</a:t>
            </a:r>
            <a:r>
              <a:rPr lang="en-US" dirty="0" err="1">
                <a:solidFill>
                  <a:schemeClr val="tx2"/>
                </a:solidFill>
              </a:rPr>
              <a:t>rimit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të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telefonave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sipas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/>
              <a:t>shteteve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69" y="1039640"/>
            <a:ext cx="7673119" cy="709865"/>
          </a:xfrm>
        </p:spPr>
        <p:txBody>
          <a:bodyPr/>
          <a:lstStyle/>
          <a:p>
            <a:r>
              <a:rPr lang="en-US" dirty="0" err="1"/>
              <a:t>Krahasimi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përdorimit</a:t>
            </a:r>
            <a:r>
              <a:rPr lang="en-US" dirty="0"/>
              <a:t> </a:t>
            </a:r>
            <a:r>
              <a:rPr lang="en-US" dirty="0" err="1"/>
              <a:t>mesatar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telefonit</a:t>
            </a:r>
            <a:r>
              <a:rPr lang="en-US" dirty="0"/>
              <a:t> </a:t>
            </a:r>
            <a:r>
              <a:rPr lang="en-US" dirty="0" err="1"/>
              <a:t>ndërmjet</a:t>
            </a:r>
            <a:r>
              <a:rPr lang="en-US" dirty="0"/>
              <a:t> </a:t>
            </a:r>
            <a:r>
              <a:rPr lang="en-US" dirty="0" err="1"/>
              <a:t>shteteve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642DDD-18FA-4307-B29A-FBCD3A2A0E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4912" y="2611298"/>
            <a:ext cx="785758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dirty="0">
                <a:solidFill>
                  <a:schemeClr val="tx2"/>
                </a:solidFill>
              </a:rPr>
              <a:t>Ky </a:t>
            </a:r>
            <a:r>
              <a:rPr lang="en-US" sz="2800" dirty="0" err="1">
                <a:solidFill>
                  <a:schemeClr val="tx2"/>
                </a:solidFill>
              </a:rPr>
              <a:t>vizualizim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krahason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kohën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mesatare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ditore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përdorimit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telefonit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ndërmjet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shteteve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ndryshme</a:t>
            </a:r>
            <a:r>
              <a:rPr lang="en-US" sz="2800" dirty="0">
                <a:solidFill>
                  <a:schemeClr val="tx2"/>
                </a:solidFill>
              </a:rPr>
              <a:t>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dirty="0" err="1">
                <a:solidFill>
                  <a:schemeClr val="tx2"/>
                </a:solidFill>
              </a:rPr>
              <a:t>Vërehet</a:t>
            </a:r>
            <a:r>
              <a:rPr lang="en-US" sz="2800" dirty="0">
                <a:solidFill>
                  <a:schemeClr val="tx2"/>
                </a:solidFill>
              </a:rPr>
              <a:t> se </a:t>
            </a:r>
            <a:r>
              <a:rPr lang="en-US" sz="2800" dirty="0" err="1">
                <a:solidFill>
                  <a:schemeClr val="tx2"/>
                </a:solidFill>
              </a:rPr>
              <a:t>shumica</a:t>
            </a:r>
            <a:r>
              <a:rPr lang="en-US" sz="2800" dirty="0">
                <a:solidFill>
                  <a:schemeClr val="tx2"/>
                </a:solidFill>
              </a:rPr>
              <a:t> e </a:t>
            </a:r>
            <a:r>
              <a:rPr lang="en-US" sz="2800" dirty="0" err="1">
                <a:solidFill>
                  <a:schemeClr val="tx2"/>
                </a:solidFill>
              </a:rPr>
              <a:t>shteteve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kanë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vlera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ngjashme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përdorimit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mesatar</a:t>
            </a:r>
            <a:r>
              <a:rPr lang="en-US" sz="2800" dirty="0">
                <a:solidFill>
                  <a:schemeClr val="tx2"/>
                </a:solidFill>
              </a:rPr>
              <a:t>, </a:t>
            </a:r>
            <a:r>
              <a:rPr lang="en-US" sz="2800" dirty="0" err="1">
                <a:solidFill>
                  <a:schemeClr val="tx2"/>
                </a:solidFill>
              </a:rPr>
              <a:t>çka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sugjeron</a:t>
            </a:r>
            <a:r>
              <a:rPr lang="en-US" sz="2800" dirty="0">
                <a:solidFill>
                  <a:schemeClr val="tx2"/>
                </a:solidFill>
              </a:rPr>
              <a:t> se </a:t>
            </a:r>
            <a:r>
              <a:rPr lang="en-US" sz="2800" dirty="0" err="1">
                <a:solidFill>
                  <a:schemeClr val="tx2"/>
                </a:solidFill>
              </a:rPr>
              <a:t>përdorimi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intensiv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i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telefonit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është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një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fenomen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i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përhapur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globalisht</a:t>
            </a:r>
            <a:r>
              <a:rPr lang="en-US" sz="2800" dirty="0">
                <a:solidFill>
                  <a:schemeClr val="tx2"/>
                </a:solidFill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39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A0FF18-EC74-429A-AE70-D6A47C395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563" y="1917649"/>
            <a:ext cx="7342187" cy="3601264"/>
          </a:xfr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96FA80-53C8-4661-A387-A325B4B56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35" y="604685"/>
            <a:ext cx="7673119" cy="709865"/>
          </a:xfrm>
        </p:spPr>
        <p:txBody>
          <a:bodyPr/>
          <a:lstStyle/>
          <a:p>
            <a:r>
              <a:rPr lang="en-US" dirty="0" err="1">
                <a:solidFill>
                  <a:schemeClr val="tx2"/>
                </a:solidFill>
              </a:rPr>
              <a:t>Krahasimi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përdorimit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mesatar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të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telefonit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ndërmjet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shteteve</a:t>
            </a:r>
            <a:endParaRPr dirty="0">
              <a:solidFill>
                <a:schemeClr val="tx2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dirty="0" err="1"/>
              <a:t>Niveli</a:t>
            </a:r>
            <a:r>
              <a:rPr lang="en-US" dirty="0"/>
              <a:t> </a:t>
            </a:r>
            <a:r>
              <a:rPr lang="en-US" dirty="0" err="1"/>
              <a:t>mesatar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stresit</a:t>
            </a:r>
            <a:r>
              <a:rPr lang="en-US" dirty="0"/>
              <a:t> </a:t>
            </a:r>
            <a:r>
              <a:rPr lang="en-US" dirty="0" err="1"/>
              <a:t>sipas</a:t>
            </a:r>
            <a:r>
              <a:rPr lang="en-US" dirty="0"/>
              <a:t> </a:t>
            </a:r>
            <a:r>
              <a:rPr lang="en-US" dirty="0" err="1"/>
              <a:t>moshës</a:t>
            </a:r>
            <a:endParaRPr lang="en-US" sz="2800" dirty="0">
              <a:solidFill>
                <a:srgbClr val="EBEBE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51837"/>
            <a:ext cx="4126961" cy="5954325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chemeClr val="tx2"/>
                </a:solidFill>
              </a:rPr>
              <a:t>Ky </a:t>
            </a:r>
            <a:r>
              <a:rPr lang="en-US" sz="2400" dirty="0" err="1">
                <a:solidFill>
                  <a:schemeClr val="tx2"/>
                </a:solidFill>
              </a:rPr>
              <a:t>grafik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paraqet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nivelin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mesatar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stresit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për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moshat</a:t>
            </a:r>
            <a:r>
              <a:rPr lang="en-US" sz="2400" dirty="0">
                <a:solidFill>
                  <a:schemeClr val="tx2"/>
                </a:solidFill>
              </a:rPr>
              <a:t> e </a:t>
            </a:r>
            <a:r>
              <a:rPr lang="en-US" sz="2400" dirty="0" err="1">
                <a:solidFill>
                  <a:schemeClr val="tx2"/>
                </a:solidFill>
              </a:rPr>
              <a:t>ndryshme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  <a:r>
              <a:rPr lang="en-US" sz="2400" dirty="0" err="1">
                <a:solidFill>
                  <a:schemeClr val="tx2"/>
                </a:solidFill>
              </a:rPr>
              <a:t>Rezultatet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tregojnë</a:t>
            </a:r>
            <a:r>
              <a:rPr lang="en-US" sz="2400" dirty="0">
                <a:solidFill>
                  <a:schemeClr val="tx2"/>
                </a:solidFill>
              </a:rPr>
              <a:t> se </a:t>
            </a:r>
            <a:r>
              <a:rPr lang="en-US" sz="2400" dirty="0" err="1">
                <a:solidFill>
                  <a:schemeClr val="tx2"/>
                </a:solidFill>
              </a:rPr>
              <a:t>niveli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stresit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ndryshon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varësi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moshës</a:t>
            </a:r>
            <a:r>
              <a:rPr lang="en-US" sz="2400" dirty="0">
                <a:solidFill>
                  <a:schemeClr val="tx2"/>
                </a:solidFill>
              </a:rPr>
              <a:t>, duke </a:t>
            </a:r>
            <a:r>
              <a:rPr lang="en-US" sz="2400" dirty="0" err="1">
                <a:solidFill>
                  <a:schemeClr val="tx2"/>
                </a:solidFill>
              </a:rPr>
              <a:t>reflektuar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ndikimin</a:t>
            </a:r>
            <a:r>
              <a:rPr lang="en-US" sz="2400" dirty="0">
                <a:solidFill>
                  <a:schemeClr val="tx2"/>
                </a:solidFill>
              </a:rPr>
              <a:t> e </a:t>
            </a:r>
            <a:r>
              <a:rPr lang="en-US" sz="2400" dirty="0" err="1">
                <a:solidFill>
                  <a:schemeClr val="tx2"/>
                </a:solidFill>
              </a:rPr>
              <a:t>faktorëve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socialë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profesionalë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dhe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përdorimit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teknologjisë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faza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ndryshme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jetës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7299A9-DFF6-4C84-B1B6-F06B6BB73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563" y="1730234"/>
            <a:ext cx="7370762" cy="4051588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9D1CB4A-D015-498A-A0B3-751EFBEDA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302" y="601218"/>
            <a:ext cx="6935392" cy="529385"/>
          </a:xfrm>
        </p:spPr>
        <p:txBody>
          <a:bodyPr anchor="ctr">
            <a:normAutofit fontScale="90000"/>
          </a:bodyPr>
          <a:lstStyle/>
          <a:p>
            <a:r>
              <a:rPr lang="en-US" dirty="0" err="1">
                <a:solidFill>
                  <a:schemeClr val="tx2"/>
                </a:solidFill>
              </a:rPr>
              <a:t>Niveli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mesatar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stresit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sipas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moshës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726134" cy="4596794"/>
          </a:xfrm>
        </p:spPr>
        <p:txBody>
          <a:bodyPr anchor="ctr">
            <a:normAutofit/>
          </a:bodyPr>
          <a:lstStyle/>
          <a:p>
            <a:r>
              <a:rPr lang="en-US" dirty="0" err="1"/>
              <a:t>Shpërndarja</a:t>
            </a:r>
            <a:r>
              <a:rPr lang="en-US" dirty="0"/>
              <a:t> e </a:t>
            </a:r>
            <a:r>
              <a:rPr lang="en-US" dirty="0" err="1"/>
              <a:t>kohës</a:t>
            </a:r>
            <a:r>
              <a:rPr lang="en-US" dirty="0"/>
              <a:t> </a:t>
            </a:r>
            <a:r>
              <a:rPr lang="en-US" dirty="0" err="1"/>
              <a:t>ditore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përdorimit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telefonit</a:t>
            </a:r>
            <a:endParaRPr lang="en-US" sz="2600" dirty="0">
              <a:solidFill>
                <a:srgbClr val="EBEBE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2400" dirty="0" err="1">
                <a:solidFill>
                  <a:schemeClr val="tx2"/>
                </a:solidFill>
              </a:rPr>
              <a:t>Histogrami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tregon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shpërndarjen</a:t>
            </a:r>
            <a:r>
              <a:rPr lang="en-US" sz="2400" dirty="0">
                <a:solidFill>
                  <a:schemeClr val="tx2"/>
                </a:solidFill>
              </a:rPr>
              <a:t> e </a:t>
            </a:r>
            <a:r>
              <a:rPr lang="en-US" sz="2400" dirty="0" err="1">
                <a:solidFill>
                  <a:schemeClr val="tx2"/>
                </a:solidFill>
              </a:rPr>
              <a:t>kohës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ditore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përdorimit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telefonit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kampionin</a:t>
            </a:r>
            <a:r>
              <a:rPr lang="en-US" sz="2400" dirty="0">
                <a:solidFill>
                  <a:schemeClr val="tx2"/>
                </a:solidFill>
              </a:rPr>
              <a:t> e </a:t>
            </a:r>
            <a:r>
              <a:rPr lang="en-US" sz="2400" dirty="0" err="1">
                <a:solidFill>
                  <a:schemeClr val="tx2"/>
                </a:solidFill>
              </a:rPr>
              <a:t>analizuar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  <a:r>
              <a:rPr lang="en-US" sz="2400" dirty="0" err="1">
                <a:solidFill>
                  <a:schemeClr val="tx2"/>
                </a:solidFill>
              </a:rPr>
              <a:t>Shumica</a:t>
            </a:r>
            <a:r>
              <a:rPr lang="en-US" sz="2400" dirty="0">
                <a:solidFill>
                  <a:schemeClr val="tx2"/>
                </a:solidFill>
              </a:rPr>
              <a:t> e </a:t>
            </a:r>
            <a:r>
              <a:rPr lang="en-US" sz="2400" dirty="0" err="1">
                <a:solidFill>
                  <a:schemeClr val="tx2"/>
                </a:solidFill>
              </a:rPr>
              <a:t>përdoruesve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përqendrohen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rreth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vlerave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mesatare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ndërsa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një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numër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vogël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shfaq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përdorim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shumë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ulët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ose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shumë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lartë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telefonit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69" y="927098"/>
            <a:ext cx="7222953" cy="709865"/>
          </a:xfrm>
        </p:spPr>
        <p:txBody>
          <a:bodyPr/>
          <a:lstStyle/>
          <a:p>
            <a:r>
              <a:rPr lang="en-US" dirty="0" err="1"/>
              <a:t>Shpërndarja</a:t>
            </a:r>
            <a:r>
              <a:rPr lang="en-US" dirty="0"/>
              <a:t> e </a:t>
            </a:r>
            <a:r>
              <a:rPr lang="en-US" dirty="0" err="1"/>
              <a:t>kohës</a:t>
            </a:r>
            <a:r>
              <a:rPr lang="en-US" dirty="0"/>
              <a:t> </a:t>
            </a:r>
            <a:r>
              <a:rPr lang="en-US" dirty="0" err="1"/>
              <a:t>ditore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përdorimit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telefonit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CF63D3-D9F5-4C5E-9CF8-B8A4449E11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850" y="2504049"/>
            <a:ext cx="8369147" cy="384048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69" y="1039640"/>
            <a:ext cx="7673119" cy="709865"/>
          </a:xfrm>
        </p:spPr>
        <p:txBody>
          <a:bodyPr/>
          <a:lstStyle/>
          <a:p>
            <a:r>
              <a:rPr lang="en-US" dirty="0" err="1"/>
              <a:t>Lidhja</a:t>
            </a:r>
            <a:r>
              <a:rPr lang="en-US" dirty="0"/>
              <a:t> midis </a:t>
            </a:r>
            <a:r>
              <a:rPr lang="en-US" dirty="0" err="1"/>
              <a:t>përdorimit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telefonit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nivelit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stresit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642DDD-18FA-4307-B29A-FBCD3A2A0E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4912" y="2395855"/>
            <a:ext cx="785758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dirty="0">
                <a:solidFill>
                  <a:schemeClr val="tx2"/>
                </a:solidFill>
              </a:rPr>
              <a:t>Ky </a:t>
            </a:r>
            <a:r>
              <a:rPr lang="en-US" sz="2800" dirty="0" err="1">
                <a:solidFill>
                  <a:schemeClr val="tx2"/>
                </a:solidFill>
              </a:rPr>
              <a:t>vizualizim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analizon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marrëdhënien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ndërmjet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kohës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ditore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përdorimit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telefonit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dhe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nivelit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stresit</a:t>
            </a:r>
            <a:r>
              <a:rPr lang="en-US" sz="2800" dirty="0">
                <a:solidFill>
                  <a:schemeClr val="tx2"/>
                </a:solidFill>
              </a:rPr>
              <a:t>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dirty="0" err="1">
                <a:solidFill>
                  <a:schemeClr val="tx2"/>
                </a:solidFill>
              </a:rPr>
              <a:t>Rezultatet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sugjerojnë</a:t>
            </a:r>
            <a:r>
              <a:rPr lang="en-US" sz="2800" dirty="0">
                <a:solidFill>
                  <a:schemeClr val="tx2"/>
                </a:solidFill>
              </a:rPr>
              <a:t> se </a:t>
            </a:r>
            <a:r>
              <a:rPr lang="en-US" sz="2800" dirty="0" err="1">
                <a:solidFill>
                  <a:schemeClr val="tx2"/>
                </a:solidFill>
              </a:rPr>
              <a:t>rritja</a:t>
            </a:r>
            <a:r>
              <a:rPr lang="en-US" sz="2800" dirty="0">
                <a:solidFill>
                  <a:schemeClr val="tx2"/>
                </a:solidFill>
              </a:rPr>
              <a:t> e </a:t>
            </a:r>
            <a:r>
              <a:rPr lang="en-US" sz="2800" dirty="0" err="1">
                <a:solidFill>
                  <a:schemeClr val="tx2"/>
                </a:solidFill>
              </a:rPr>
              <a:t>kohës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së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përdorimit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telefonit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shoqërohet</a:t>
            </a:r>
            <a:r>
              <a:rPr lang="en-US" sz="2800" dirty="0">
                <a:solidFill>
                  <a:schemeClr val="tx2"/>
                </a:solidFill>
              </a:rPr>
              <a:t> me </a:t>
            </a:r>
            <a:r>
              <a:rPr lang="en-US" sz="2800" dirty="0" err="1">
                <a:solidFill>
                  <a:schemeClr val="tx2"/>
                </a:solidFill>
              </a:rPr>
              <a:t>rritje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nivelit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stresit</a:t>
            </a:r>
            <a:r>
              <a:rPr lang="en-US" sz="2800" dirty="0">
                <a:solidFill>
                  <a:schemeClr val="tx2"/>
                </a:solidFill>
              </a:rPr>
              <a:t>, duke </a:t>
            </a:r>
            <a:r>
              <a:rPr lang="en-US" sz="2800" dirty="0" err="1">
                <a:solidFill>
                  <a:schemeClr val="tx2"/>
                </a:solidFill>
              </a:rPr>
              <a:t>treguar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një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lidhje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qartë</a:t>
            </a:r>
            <a:r>
              <a:rPr lang="en-US" sz="2800" dirty="0">
                <a:solidFill>
                  <a:schemeClr val="tx2"/>
                </a:solidFill>
              </a:rPr>
              <a:t> midis </a:t>
            </a:r>
            <a:r>
              <a:rPr lang="en-US" sz="2800" dirty="0" err="1">
                <a:solidFill>
                  <a:schemeClr val="tx2"/>
                </a:solidFill>
              </a:rPr>
              <a:t>përdorimit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intensiv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teknologjisë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dhe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shëndetit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mendor</a:t>
            </a:r>
            <a:r>
              <a:rPr lang="en-US" sz="2800" dirty="0">
                <a:solidFill>
                  <a:schemeClr val="tx2"/>
                </a:solidFill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51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3196FA80-53C8-4661-A387-A325B4B56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35" y="604685"/>
            <a:ext cx="7673119" cy="709865"/>
          </a:xfrm>
        </p:spPr>
        <p:txBody>
          <a:bodyPr/>
          <a:lstStyle/>
          <a:p>
            <a:r>
              <a:rPr lang="en-US" dirty="0" err="1">
                <a:solidFill>
                  <a:schemeClr val="tx2"/>
                </a:solidFill>
              </a:rPr>
              <a:t>Lidhja</a:t>
            </a:r>
            <a:r>
              <a:rPr lang="en-US" dirty="0">
                <a:solidFill>
                  <a:schemeClr val="tx2"/>
                </a:solidFill>
              </a:rPr>
              <a:t> midis </a:t>
            </a:r>
            <a:r>
              <a:rPr lang="en-US" dirty="0" err="1">
                <a:solidFill>
                  <a:schemeClr val="tx2"/>
                </a:solidFill>
              </a:rPr>
              <a:t>përdorimit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të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telefonit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dhe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nivelit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të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stresit</a:t>
            </a:r>
            <a:endParaRPr dirty="0">
              <a:solidFill>
                <a:schemeClr val="tx2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2F6E93-90E8-4757-8E96-69AEFA654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3600" y="1758462"/>
            <a:ext cx="7399554" cy="3870887"/>
          </a:xfrm>
        </p:spPr>
      </p:pic>
    </p:spTree>
    <p:extLst>
      <p:ext uri="{BB962C8B-B14F-4D97-AF65-F5344CB8AC3E}">
        <p14:creationId xmlns:p14="http://schemas.microsoft.com/office/powerpoint/2010/main" val="1996490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F3EB5-F56C-4C93-AE9E-80E9A1E0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40" y="927100"/>
            <a:ext cx="7475702" cy="1692720"/>
          </a:xfrm>
        </p:spPr>
        <p:txBody>
          <a:bodyPr/>
          <a:lstStyle/>
          <a:p>
            <a:r>
              <a:rPr lang="en-US" dirty="0" err="1"/>
              <a:t>Llojet</a:t>
            </a:r>
            <a:r>
              <a:rPr lang="en-US" dirty="0"/>
              <a:t> e </a:t>
            </a:r>
            <a:r>
              <a:rPr lang="en-US" dirty="0" err="1"/>
              <a:t>përdorimit</a:t>
            </a:r>
            <a:r>
              <a:rPr lang="en-US" dirty="0"/>
              <a:t> </a:t>
            </a:r>
            <a:r>
              <a:rPr lang="en-US" dirty="0" err="1"/>
              <a:t>pasiv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niveli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stresit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C678-A4BF-4291-AE5B-BE7B43E99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7771123" cy="270176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Ky </a:t>
            </a:r>
            <a:r>
              <a:rPr lang="en-US" sz="2400" dirty="0" err="1">
                <a:solidFill>
                  <a:schemeClr val="tx2"/>
                </a:solidFill>
              </a:rPr>
              <a:t>vizualizim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shumë</a:t>
            </a:r>
            <a:r>
              <a:rPr lang="en-US" sz="2400" dirty="0">
                <a:solidFill>
                  <a:schemeClr val="tx2"/>
                </a:solidFill>
              </a:rPr>
              <a:t>-dimensional </a:t>
            </a:r>
            <a:r>
              <a:rPr lang="en-US" sz="2400" dirty="0" err="1">
                <a:solidFill>
                  <a:schemeClr val="tx2"/>
                </a:solidFill>
              </a:rPr>
              <a:t>fokusohet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llojet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pasive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përdorimit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telefonit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si</a:t>
            </a:r>
            <a:r>
              <a:rPr lang="en-US" sz="2400" dirty="0">
                <a:solidFill>
                  <a:schemeClr val="tx2"/>
                </a:solidFill>
              </a:rPr>
              <a:t> gaming </a:t>
            </a:r>
            <a:r>
              <a:rPr lang="en-US" sz="2400" dirty="0" err="1">
                <a:solidFill>
                  <a:schemeClr val="tx2"/>
                </a:solidFill>
              </a:rPr>
              <a:t>dhe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rrjetet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sociale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dhe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lidhjen</a:t>
            </a:r>
            <a:r>
              <a:rPr lang="en-US" sz="2400" dirty="0">
                <a:solidFill>
                  <a:schemeClr val="tx2"/>
                </a:solidFill>
              </a:rPr>
              <a:t> e </a:t>
            </a:r>
            <a:r>
              <a:rPr lang="en-US" sz="2400" dirty="0" err="1">
                <a:solidFill>
                  <a:schemeClr val="tx2"/>
                </a:solidFill>
              </a:rPr>
              <a:t>tyre</a:t>
            </a:r>
            <a:r>
              <a:rPr lang="en-US" sz="2400" dirty="0">
                <a:solidFill>
                  <a:schemeClr val="tx2"/>
                </a:solidFill>
              </a:rPr>
              <a:t> me </a:t>
            </a:r>
            <a:r>
              <a:rPr lang="en-US" sz="2400" dirty="0" err="1">
                <a:solidFill>
                  <a:schemeClr val="tx2"/>
                </a:solidFill>
              </a:rPr>
              <a:t>nivelin</a:t>
            </a:r>
            <a:r>
              <a:rPr lang="en-US" sz="2400" dirty="0">
                <a:solidFill>
                  <a:schemeClr val="tx2"/>
                </a:solidFill>
              </a:rPr>
              <a:t> e </a:t>
            </a:r>
            <a:r>
              <a:rPr lang="en-US" sz="2400" dirty="0" err="1">
                <a:solidFill>
                  <a:schemeClr val="tx2"/>
                </a:solidFill>
              </a:rPr>
              <a:t>stresit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  <a:r>
              <a:rPr lang="en-US" sz="2400" dirty="0" err="1">
                <a:solidFill>
                  <a:schemeClr val="tx2"/>
                </a:solidFill>
              </a:rPr>
              <a:t>Rezultatet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tregojnë</a:t>
            </a:r>
            <a:r>
              <a:rPr lang="en-US" sz="2400" dirty="0">
                <a:solidFill>
                  <a:schemeClr val="tx2"/>
                </a:solidFill>
              </a:rPr>
              <a:t> se </a:t>
            </a:r>
            <a:r>
              <a:rPr lang="en-US" sz="2400" dirty="0" err="1">
                <a:solidFill>
                  <a:schemeClr val="tx2"/>
                </a:solidFill>
              </a:rPr>
              <a:t>përdorimi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intensiv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këtyre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aktiviteteve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shoqërohet</a:t>
            </a:r>
            <a:r>
              <a:rPr lang="en-US" sz="2400" dirty="0">
                <a:solidFill>
                  <a:schemeClr val="tx2"/>
                </a:solidFill>
              </a:rPr>
              <a:t> me </a:t>
            </a:r>
            <a:r>
              <a:rPr lang="en-US" sz="2400" dirty="0" err="1">
                <a:solidFill>
                  <a:schemeClr val="tx2"/>
                </a:solidFill>
              </a:rPr>
              <a:t>nivele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larta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stresi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krahasuar</a:t>
            </a:r>
            <a:r>
              <a:rPr lang="en-US" sz="2400" dirty="0">
                <a:solidFill>
                  <a:schemeClr val="tx2"/>
                </a:solidFill>
              </a:rPr>
              <a:t> me </a:t>
            </a:r>
            <a:r>
              <a:rPr lang="en-US" sz="2400" dirty="0" err="1">
                <a:solidFill>
                  <a:schemeClr val="tx2"/>
                </a:solidFill>
              </a:rPr>
              <a:t>përdorimet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më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aktive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8696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F44A-A697-4A00-AFB5-9307A579C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40" y="927099"/>
            <a:ext cx="7067738" cy="709865"/>
          </a:xfrm>
        </p:spPr>
        <p:txBody>
          <a:bodyPr/>
          <a:lstStyle/>
          <a:p>
            <a:r>
              <a:rPr lang="en-US" dirty="0" err="1"/>
              <a:t>Llojet</a:t>
            </a:r>
            <a:r>
              <a:rPr lang="en-US" dirty="0"/>
              <a:t> e </a:t>
            </a:r>
            <a:r>
              <a:rPr lang="en-US" dirty="0" err="1"/>
              <a:t>përdorimit</a:t>
            </a:r>
            <a:r>
              <a:rPr lang="en-US" dirty="0"/>
              <a:t> </a:t>
            </a:r>
            <a:r>
              <a:rPr lang="en-US" dirty="0" err="1"/>
              <a:t>pasiv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niveli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stresit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17FCD2-83BF-4C3D-B6E9-098B3796E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01" y="2223752"/>
            <a:ext cx="8794798" cy="440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24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D6DF2-A2B0-4610-9F57-959D68622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39" y="927099"/>
            <a:ext cx="7411121" cy="709865"/>
          </a:xfrm>
        </p:spPr>
        <p:txBody>
          <a:bodyPr/>
          <a:lstStyle/>
          <a:p>
            <a:r>
              <a:rPr lang="en-US" dirty="0" err="1"/>
              <a:t>Përmbledhje</a:t>
            </a:r>
            <a:r>
              <a:rPr lang="en-US" dirty="0"/>
              <a:t> e </a:t>
            </a:r>
            <a:r>
              <a:rPr lang="en-US" dirty="0" err="1"/>
              <a:t>treguesve</a:t>
            </a:r>
            <a:r>
              <a:rPr lang="en-US" dirty="0"/>
              <a:t> </a:t>
            </a:r>
            <a:r>
              <a:rPr lang="en-US" dirty="0" err="1"/>
              <a:t>kryesorë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EF2C3-BB71-419F-A3AA-35EF917E4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6440" y="2489200"/>
            <a:ext cx="3636980" cy="3530601"/>
          </a:xfrm>
        </p:spPr>
        <p:txBody>
          <a:bodyPr>
            <a:normAutofit/>
          </a:bodyPr>
          <a:lstStyle/>
          <a:p>
            <a:r>
              <a:rPr lang="en-US" dirty="0"/>
              <a:t>Ky </a:t>
            </a:r>
            <a:r>
              <a:rPr lang="en-US" dirty="0" err="1"/>
              <a:t>seksion</a:t>
            </a:r>
            <a:r>
              <a:rPr lang="en-US" dirty="0"/>
              <a:t> </a:t>
            </a:r>
            <a:r>
              <a:rPr lang="en-US" dirty="0" err="1"/>
              <a:t>paraqet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pamje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përgjithshme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, duke </a:t>
            </a:r>
            <a:r>
              <a:rPr lang="en-US" dirty="0" err="1"/>
              <a:t>përfshirë</a:t>
            </a:r>
            <a:r>
              <a:rPr lang="en-US" dirty="0"/>
              <a:t>: </a:t>
            </a:r>
            <a:r>
              <a:rPr lang="en-US" dirty="0" err="1"/>
              <a:t>kohën</a:t>
            </a:r>
            <a:r>
              <a:rPr lang="en-US" dirty="0"/>
              <a:t> </a:t>
            </a:r>
            <a:r>
              <a:rPr lang="en-US" dirty="0" err="1"/>
              <a:t>mesatare</a:t>
            </a:r>
            <a:r>
              <a:rPr lang="en-US" dirty="0"/>
              <a:t> </a:t>
            </a:r>
            <a:r>
              <a:rPr lang="en-US" dirty="0" err="1"/>
              <a:t>ditore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përdorimit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telefonit</a:t>
            </a:r>
            <a:r>
              <a:rPr lang="en-US" dirty="0"/>
              <a:t>, </a:t>
            </a:r>
            <a:r>
              <a:rPr lang="en-US" dirty="0" err="1"/>
              <a:t>nivelin</a:t>
            </a:r>
            <a:r>
              <a:rPr lang="en-US" dirty="0"/>
              <a:t> </a:t>
            </a:r>
            <a:r>
              <a:rPr lang="en-US" dirty="0" err="1"/>
              <a:t>mesatar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stresit</a:t>
            </a:r>
            <a:r>
              <a:rPr lang="en-US" dirty="0"/>
              <a:t>, </a:t>
            </a:r>
            <a:r>
              <a:rPr lang="en-US" dirty="0" err="1"/>
              <a:t>orët</a:t>
            </a:r>
            <a:r>
              <a:rPr lang="en-US" dirty="0"/>
              <a:t> </a:t>
            </a:r>
            <a:r>
              <a:rPr lang="en-US" dirty="0" err="1"/>
              <a:t>mesatare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gjumit</a:t>
            </a:r>
            <a:r>
              <a:rPr lang="en-US" dirty="0"/>
              <a:t>, </a:t>
            </a:r>
            <a:r>
              <a:rPr lang="en-US" dirty="0" err="1"/>
              <a:t>numrin</a:t>
            </a:r>
            <a:r>
              <a:rPr lang="en-US" dirty="0"/>
              <a:t> total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pjesëmarrësve</a:t>
            </a:r>
            <a:r>
              <a:rPr lang="en-US" dirty="0"/>
              <a:t>. </a:t>
            </a:r>
            <a:r>
              <a:rPr lang="en-US" dirty="0" err="1"/>
              <a:t>Këta</a:t>
            </a:r>
            <a:r>
              <a:rPr lang="en-US" dirty="0"/>
              <a:t> </a:t>
            </a:r>
            <a:r>
              <a:rPr lang="en-US" dirty="0" err="1"/>
              <a:t>tregues</a:t>
            </a:r>
            <a:r>
              <a:rPr lang="en-US" dirty="0"/>
              <a:t> </a:t>
            </a:r>
            <a:r>
              <a:rPr lang="en-US" dirty="0" err="1"/>
              <a:t>ofrojnë</a:t>
            </a:r>
            <a:r>
              <a:rPr lang="en-US" dirty="0"/>
              <a:t> </a:t>
            </a:r>
            <a:r>
              <a:rPr lang="en-US" dirty="0" err="1"/>
              <a:t>kontekst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interpretimin</a:t>
            </a:r>
            <a:r>
              <a:rPr lang="en-US" dirty="0"/>
              <a:t> e </a:t>
            </a:r>
            <a:r>
              <a:rPr lang="en-US" dirty="0" err="1"/>
              <a:t>vizualizimeve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tjera</a:t>
            </a:r>
            <a:r>
              <a:rPr lang="en-US" dirty="0"/>
              <a:t>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8CA94D1-4DC2-4476-B1E2-E4B44AD9132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640262" y="2390430"/>
            <a:ext cx="4137977" cy="3827490"/>
          </a:xfrm>
        </p:spPr>
      </p:pic>
    </p:spTree>
    <p:extLst>
      <p:ext uri="{BB962C8B-B14F-4D97-AF65-F5344CB8AC3E}">
        <p14:creationId xmlns:p14="http://schemas.microsoft.com/office/powerpoint/2010/main" val="375546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5D761-7AC9-416E-8A06-856F8904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Përfundime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9D2B2-0601-4728-AF55-672D8E612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302" y="3263705"/>
            <a:ext cx="8102990" cy="3249637"/>
          </a:xfrm>
        </p:spPr>
        <p:txBody>
          <a:bodyPr>
            <a:noAutofit/>
          </a:bodyPr>
          <a:lstStyle/>
          <a:p>
            <a:r>
              <a:rPr lang="en-US" sz="2000" dirty="0" err="1">
                <a:solidFill>
                  <a:schemeClr val="tx2"/>
                </a:solidFill>
              </a:rPr>
              <a:t>Përdorimi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telefonit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është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përhapur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dhe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relativisht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lartë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në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të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gjitha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shtetet</a:t>
            </a:r>
            <a:r>
              <a:rPr lang="en-US" sz="2000" dirty="0">
                <a:solidFill>
                  <a:schemeClr val="tx2"/>
                </a:solidFill>
              </a:rPr>
              <a:t> e </a:t>
            </a:r>
            <a:r>
              <a:rPr lang="en-US" sz="2000" dirty="0" err="1">
                <a:solidFill>
                  <a:schemeClr val="tx2"/>
                </a:solidFill>
              </a:rPr>
              <a:t>analizuara</a:t>
            </a:r>
            <a:r>
              <a:rPr lang="en-US" sz="2000" dirty="0">
                <a:solidFill>
                  <a:schemeClr val="tx2"/>
                </a:solidFill>
              </a:rPr>
              <a:t>. </a:t>
            </a:r>
          </a:p>
          <a:p>
            <a:r>
              <a:rPr lang="en-US" sz="2000" dirty="0" err="1">
                <a:solidFill>
                  <a:schemeClr val="tx2"/>
                </a:solidFill>
              </a:rPr>
              <a:t>Llojet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pasive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të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përdorimit</a:t>
            </a:r>
            <a:r>
              <a:rPr lang="en-US" sz="2000" dirty="0">
                <a:solidFill>
                  <a:schemeClr val="tx2"/>
                </a:solidFill>
              </a:rPr>
              <a:t>, </a:t>
            </a:r>
            <a:r>
              <a:rPr lang="en-US" sz="2000" dirty="0" err="1">
                <a:solidFill>
                  <a:schemeClr val="tx2"/>
                </a:solidFill>
              </a:rPr>
              <a:t>si</a:t>
            </a:r>
            <a:r>
              <a:rPr lang="en-US" sz="2000" dirty="0">
                <a:solidFill>
                  <a:schemeClr val="tx2"/>
                </a:solidFill>
              </a:rPr>
              <a:t> gaming </a:t>
            </a:r>
            <a:r>
              <a:rPr lang="en-US" sz="2000" dirty="0" err="1">
                <a:solidFill>
                  <a:schemeClr val="tx2"/>
                </a:solidFill>
              </a:rPr>
              <a:t>dhe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rrjetet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sociale</a:t>
            </a:r>
            <a:r>
              <a:rPr lang="en-US" sz="2000" dirty="0">
                <a:solidFill>
                  <a:schemeClr val="tx2"/>
                </a:solidFill>
              </a:rPr>
              <a:t>, </a:t>
            </a:r>
            <a:r>
              <a:rPr lang="en-US" sz="2000" dirty="0" err="1">
                <a:solidFill>
                  <a:schemeClr val="tx2"/>
                </a:solidFill>
              </a:rPr>
              <a:t>lidhen</a:t>
            </a:r>
            <a:r>
              <a:rPr lang="en-US" sz="2000" dirty="0">
                <a:solidFill>
                  <a:schemeClr val="tx2"/>
                </a:solidFill>
              </a:rPr>
              <a:t> me </a:t>
            </a:r>
            <a:r>
              <a:rPr lang="en-US" sz="2000" dirty="0" err="1">
                <a:solidFill>
                  <a:schemeClr val="tx2"/>
                </a:solidFill>
              </a:rPr>
              <a:t>nivele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më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të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larta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stresi</a:t>
            </a:r>
            <a:r>
              <a:rPr lang="en-US" sz="2000" dirty="0">
                <a:solidFill>
                  <a:schemeClr val="tx2"/>
                </a:solidFill>
              </a:rPr>
              <a:t>. </a:t>
            </a:r>
          </a:p>
          <a:p>
            <a:r>
              <a:rPr lang="en-US" sz="2000" dirty="0" err="1">
                <a:solidFill>
                  <a:schemeClr val="tx2"/>
                </a:solidFill>
              </a:rPr>
              <a:t>Aktiviteti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fizik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dhe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përdorimi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balancuar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teknologjisë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shfaqen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si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faktorë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mbrojtës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për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shëndetin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mendor</a:t>
            </a:r>
            <a:r>
              <a:rPr lang="en-US" sz="2000" dirty="0">
                <a:solidFill>
                  <a:schemeClr val="tx2"/>
                </a:solidFill>
              </a:rPr>
              <a:t>. </a:t>
            </a:r>
          </a:p>
          <a:p>
            <a:r>
              <a:rPr lang="en-US" sz="2000" dirty="0" err="1">
                <a:solidFill>
                  <a:schemeClr val="tx2"/>
                </a:solidFill>
              </a:rPr>
              <a:t>Vizualizimi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të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dhënave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ndihmon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në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kuptimin</a:t>
            </a:r>
            <a:r>
              <a:rPr lang="en-US" sz="2000" dirty="0">
                <a:solidFill>
                  <a:schemeClr val="tx2"/>
                </a:solidFill>
              </a:rPr>
              <a:t> e </a:t>
            </a:r>
            <a:r>
              <a:rPr lang="en-US" sz="2000" dirty="0" err="1">
                <a:solidFill>
                  <a:schemeClr val="tx2"/>
                </a:solidFill>
              </a:rPr>
              <a:t>marrëdhënieve</a:t>
            </a:r>
            <a:r>
              <a:rPr lang="en-US" sz="2000" dirty="0">
                <a:solidFill>
                  <a:schemeClr val="tx2"/>
                </a:solidFill>
              </a:rPr>
              <a:t> midis </a:t>
            </a:r>
            <a:r>
              <a:rPr lang="en-US" sz="2000" dirty="0" err="1">
                <a:solidFill>
                  <a:schemeClr val="tx2"/>
                </a:solidFill>
              </a:rPr>
              <a:t>përdorimit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të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telefonit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dhe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mirëqenies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mendore</a:t>
            </a:r>
            <a:r>
              <a:rPr lang="en-US" sz="20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4862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601CB-DFB3-407B-0B54-6E1869540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FALEMINDERIT PËR VËMENDJEN</a:t>
            </a:r>
          </a:p>
        </p:txBody>
      </p:sp>
    </p:spTree>
    <p:extLst>
      <p:ext uri="{BB962C8B-B14F-4D97-AF65-F5344CB8AC3E}">
        <p14:creationId xmlns:p14="http://schemas.microsoft.com/office/powerpoint/2010/main" val="707321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330</TotalTime>
  <Words>568</Words>
  <Application>Microsoft Office PowerPoint</Application>
  <PresentationFormat>On-screen Show (4:3)</PresentationFormat>
  <Paragraphs>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Gothic</vt:lpstr>
      <vt:lpstr>Wingdings 3</vt:lpstr>
      <vt:lpstr>Ion Boardroom</vt:lpstr>
      <vt:lpstr>FAKULTETI I INXHINIERISË ELEKTRIKE DHE KOMPJUTERIKE INXHINIERI KOMPJUTERIKE DHE SOFTUERIKE</vt:lpstr>
      <vt:lpstr>Llojet e përdorimit të telefonave sipas shteteve</vt:lpstr>
      <vt:lpstr>Llojet e përdorimit të telefonave sipas shteteve</vt:lpstr>
      <vt:lpstr>Krahasimi i përdorimit mesatar të telefonit ndërmjet shteteve</vt:lpstr>
      <vt:lpstr>Krahasimi i përdorimit mesatar të telefonit ndërmjet shteteve</vt:lpstr>
      <vt:lpstr>Niveli mesatar i stresit sipas moshës</vt:lpstr>
      <vt:lpstr>Niveli mesatar i stresit sipas moshës</vt:lpstr>
      <vt:lpstr>Shpërndarja e kohës ditore të përdorimit të telefonit</vt:lpstr>
      <vt:lpstr>Shpërndarja e kohës ditore të përdorimit të telefonit</vt:lpstr>
      <vt:lpstr>Lidhja midis përdorimit të telefonit dhe nivelit të stresit</vt:lpstr>
      <vt:lpstr>Lidhja midis përdorimit të telefonit dhe nivelit të stresit</vt:lpstr>
      <vt:lpstr>Llojet e përdorimit pasiv dhe niveli i stresit</vt:lpstr>
      <vt:lpstr>Llojet e përdorimit pasiv dhe niveli i stresit</vt:lpstr>
      <vt:lpstr>Përmbledhje e treguesve kryesorë  </vt:lpstr>
      <vt:lpstr>Përfundime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FAKULTETI I INXHINIERISË ELEKTRIKE DHE KOMPJUTERIKE INXHINIERI KOMPJUTERIKE DHE SOFTUERIKE</dc:title>
  <dc:subject/>
  <dc:creator>Rinor Ukshini</dc:creator>
  <cp:keywords/>
  <cp:lastModifiedBy>Rinor</cp:lastModifiedBy>
  <cp:revision>102</cp:revision>
  <dcterms:created xsi:type="dcterms:W3CDTF">2013-01-27T09:14:16Z</dcterms:created>
  <dcterms:modified xsi:type="dcterms:W3CDTF">2025-12-21T22:24:34Z</dcterms:modified>
  <cp:category/>
</cp:coreProperties>
</file>